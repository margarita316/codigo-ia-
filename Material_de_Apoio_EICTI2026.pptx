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329" r:id="rId24"/>
    <p:sldId id="330" r:id="rId25"/>
    <p:sldId id="331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39" r:id="rId34"/>
    <p:sldId id="340" r:id="rId35"/>
    <p:sldId id="341" r:id="rId36"/>
    <p:sldId id="342" r:id="rId23"/>
    <p:sldId id="343" r:id="rId22"/>
    <p:sldId id="344" r:id="rId21"/>
    <p:sldId id="345" r:id="rId20"/>
    <p:sldId id="346" r:id="rId19"/>
    <p:sldId id="347" r:id="rId18"/>
    <p:sldId id="348" r:id="rId43"/>
    <p:sldId id="349" r:id="rId44"/>
    <p:sldId id="350" r:id="rId45"/>
    <p:sldId id="351" r:id="rId46"/>
    <p:sldId id="352" r:id="rId47"/>
    <p:sldId id="353" r:id="rId48"/>
    <p:sldId id="354" r:id="rId49"/>
    <p:sldId id="355" r:id="rId50"/>
    <p:sldId id="356" r:id="rId51"/>
    <p:sldId id="357" r:id="rId52"/>
    <p:sldId id="358" r:id="rId53"/>
    <p:sldId id="359" r:id="rId54"/>
    <p:sldId id="360" r:id="rId55"/>
    <p:sldId id="361" r:id="rId56"/>
    <p:sldId id="362" r:id="rId57"/>
    <p:sldId id="363" r:id="rId58"/>
    <p:sldId id="364" r:id="rId59"/>
    <p:sldId id="365" r:id="rId60"/>
    <p:sldId id="366" r:id="rId61"/>
    <p:sldId id="367" r:id="rId62"/>
    <p:sldId id="368" r:id="rId63"/>
    <p:sldId id="369" r:id="rId64"/>
    <p:sldId id="370" r:id="rId65"/>
    <p:sldId id="371" r:id="rId66"/>
    <p:sldId id="372" r:id="rId67"/>
    <p:sldId id="373" r:id="rId68"/>
    <p:sldId id="374" r:id="rId69"/>
    <p:sldId id="375" r:id="rId70"/>
    <p:sldId id="376" r:id="rId71"/>
    <p:sldId id="377" r:id="rId72"/>
    <p:sldId id="378" r:id="rId73"/>
    <p:sldId id="379" r:id="rId74"/>
    <p:sldId id="380" r:id="rId75"/>
    <p:sldId id="381" r:id="rId76"/>
    <p:sldId id="382" r:id="rId77"/>
    <p:sldId id="383" r:id="rId78"/>
    <p:sldId id="384" r:id="rId79"/>
    <p:sldId id="385" r:id="rId80"/>
    <p:sldId id="386" r:id="rId81"/>
    <p:sldId id="387" r:id="rId82"/>
    <p:sldId id="388" r:id="rId83"/>
    <p:sldId id="389" r:id="rId8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Capa" id="{A707BC43-60E1-4E2E-9246-71E4726F82A3}">
          <p14:sldIdLst>
            <p14:sldId id="256"/>
          </p14:sldIdLst>
        </p14:section>
        <p14:section name="Sumário (2 opções)" id="{3CD607FD-D39A-4C2E-A9D9-4AC1A50556E7}">
          <p14:sldIdLst>
            <p14:sldId id="291"/>
          </p14:sldIdLst>
        </p14:section>
        <p14:section name="Introdução" id="{A7CF4A55-68D2-4F00-8DD5-DB1FCA34B5FE}">
          <p14:sldIdLst>
            <p14:sldId id="292"/>
          </p14:sldIdLst>
        </p14:section>
        <p14:section name="Objetivo" id="{28A529B1-6984-4B04-8BC4-C9320461EA18}">
          <p14:sldIdLst>
            <p14:sldId id="321"/>
          </p14:sldIdLst>
        </p14:section>
        <p14:section name="Justificativa (3 opções)" id="{E9013B3E-0BC0-48D6-B8E7-A082611F3A6C}">
          <p14:sldIdLst>
            <p14:sldId id="326"/>
          </p14:sldIdLst>
        </p14:section>
        <p14:section name="Metodologia – visão geral e protocolo (4 opções)" id="{21CEACDE-E736-4EBC-A1C1-1EB179D8BFCD}">
          <p14:sldIdLst>
            <p14:sldId id="323"/>
            <p14:sldId id="278"/>
          </p14:sldIdLst>
        </p14:section>
        <p14:section name="Metodologia – modelos (2 opções)" id="{3FDDE273-CD58-4852-BCD6-65D41BB7018E}">
          <p14:sldIdLst>
            <p14:sldId id="327"/>
          </p14:sldIdLst>
        </p14:section>
        <p14:section name="Metodologia – avaliação e estatística (3 opções)" id="{A3E569A3-CAD4-472F-B988-3B30F4C3FE43}">
          <p14:sldIdLst>
            <p14:sldId id="328"/>
          </p14:sldIdLst>
        </p14:section>
        <p14:section name="Resultados – desempenho" id="{9EAF581D-11D5-43F1-9FEB-CCC94AFC7FA8}">
          <p14:sldIdLst>
            <p14:sldId id="324"/>
            <p14:sldId id="301"/>
          </p14:sldIdLst>
        </p14:section>
        <p14:section name="Resultados – comparação e síntese" id="{A4065F58-0729-407D-8771-60489527863B}">
          <p14:sldIdLst>
            <p14:sldId id="312"/>
          </p14:sldIdLst>
        </p14:section>
        <p14:section name="Considerações finais (4 opções)" id="{EE6C4965-3AB5-4DEC-A539-6F31BB259E18}">
          <p14:sldIdLst>
            <p14:sldId id="319"/>
          </p14:sldIdLst>
        </p14:section>
        <p14:section name="Agradecimentos" id="{9338CF5A-04EA-4CF2-8073-9862C7C9490A}">
          <p14:sldIdLst>
            <p14:sldId id="290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ingW/AWGiP0VfomlF4B21QwiD5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74A49C-029A-47AE-95F6-93FD25ED52CC}" v="5274" dt="2026-10-15T01:26:19.9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35" autoAdjust="0"/>
  </p:normalViewPr>
  <p:slideViewPr>
    <p:cSldViewPr snapToGrid="0">
      <p:cViewPr varScale="1">
        <p:scale>
          <a:sx n="77" d="100"/>
          <a:sy n="77" d="100"/>
        </p:scale>
        <p:origin x="8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34.xml"/><Relationship Id="rId19" Type="http://schemas.openxmlformats.org/officeDocument/2006/relationships/slide" Target="slides/slide33.xml"/><Relationship Id="rId20" Type="http://schemas.openxmlformats.org/officeDocument/2006/relationships/slide" Target="slides/slide32.xml"/><Relationship Id="rId21" Type="http://schemas.openxmlformats.org/officeDocument/2006/relationships/slide" Target="slides/slide31.xml"/><Relationship Id="rId22" Type="http://schemas.openxmlformats.org/officeDocument/2006/relationships/slide" Target="slides/slide30.xml"/><Relationship Id="rId23" Type="http://schemas.openxmlformats.org/officeDocument/2006/relationships/slide" Target="slides/slide29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customschemas.google.com/relationships/presentationmetadata" Target="metadata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microsoft.com/office/2015/10/relationships/revisionInfo" Target="revisionInfo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2167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Título e Conteú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98311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8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9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0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5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6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7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8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9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0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5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6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7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8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9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MATERIAL DE APOIO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825500" y="2209800"/>
            <a:ext cx="10515600" cy="55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PREDIÇÃO DE PROPRIEDADES DE INTERAÇÕES ENTRE FÁRMACOS E RECEPTORES POR MEIO DE ALGORITMOS DE INTELIGÊNCIA ARTIFICIAL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810000" y="2819400"/>
            <a:ext cx="4572000" cy="31750"/>
          </a:xfrm>
          <a:prstGeom prst="rect">
            <a:avLst/>
          </a:prstGeom>
          <a:solidFill>
            <a:srgbClr val="5A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25500" y="2895600"/>
            <a:ext cx="105156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Margarita Chacon Romero  |  Informações do relatório que não constam do resumo nem da apresentação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5500" y="3352800"/>
            <a:ext cx="2501900" cy="99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4566A"/>
                </a:solidFill>
                <a:latin typeface="Arial"/>
              </a:rPr>
              <a:t>150</a:t>
            </a:r>
          </a:p>
          <a:p>
            <a:pPr algn="ctr"/>
            <a:r>
              <a:rPr sz="1150">
                <a:solidFill>
                  <a:srgbClr val="000000"/>
                </a:solidFill>
                <a:latin typeface="Arial"/>
              </a:rPr>
              <a:t>pares sorteados do DAVIS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505200" y="3352800"/>
            <a:ext cx="2501900" cy="99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5A1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5A1A8F"/>
                </a:solidFill>
                <a:latin typeface="Arial"/>
              </a:rPr>
              <a:t>5</a:t>
            </a:r>
          </a:p>
          <a:p>
            <a:pPr algn="ctr"/>
            <a:r>
              <a:rPr sz="1150">
                <a:solidFill>
                  <a:srgbClr val="000000"/>
                </a:solidFill>
                <a:latin typeface="Arial"/>
              </a:rPr>
              <a:t>folds de validação cruzada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184900" y="3352800"/>
            <a:ext cx="2501900" cy="99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14566A"/>
                </a:solidFill>
                <a:latin typeface="Arial"/>
              </a:rPr>
              <a:t>3</a:t>
            </a:r>
          </a:p>
          <a:p>
            <a:pPr algn="ctr"/>
            <a:r>
              <a:rPr sz="1150">
                <a:solidFill>
                  <a:srgbClr val="000000"/>
                </a:solidFill>
                <a:latin typeface="Arial"/>
              </a:rPr>
              <a:t>preditores: SSM-DTA, SubMDTA e ensemble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864600" y="3352800"/>
            <a:ext cx="2501900" cy="99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5A1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5A1A8F"/>
                </a:solidFill>
                <a:latin typeface="Arial"/>
              </a:rPr>
              <a:t>25</a:t>
            </a:r>
          </a:p>
          <a:p>
            <a:pPr algn="ctr"/>
            <a:r>
              <a:rPr sz="1150">
                <a:solidFill>
                  <a:srgbClr val="000000"/>
                </a:solidFill>
                <a:latin typeface="Arial"/>
              </a:rPr>
              <a:t>épocas de treinamento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25500" y="4521200"/>
            <a:ext cx="3390900" cy="78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566A"/>
                </a:solidFill>
                <a:latin typeface="Arial"/>
              </a:rPr>
              <a:t>Slides 2 a 18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Pontos de consulta por assunto e respostas curtas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394200" y="4521200"/>
            <a:ext cx="3390900" cy="78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A1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5A1A8F"/>
                </a:solidFill>
                <a:latin typeface="Arial"/>
              </a:rPr>
              <a:t>Slides 19 a 38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As 19 figuras do relatório, com a mesma numeração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962900" y="4521200"/>
            <a:ext cx="3390900" cy="78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566A"/>
                </a:solidFill>
                <a:latin typeface="Arial"/>
              </a:rPr>
              <a:t>Slides 39 a 61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Os 6 quadros e as 13 tabelas do relatório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25500" y="5384800"/>
            <a:ext cx="105156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Todos os números foram recalculados a partir das predições gravadas no repositório público.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APOIO: ROTEIRO DOS PONTOS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825500" y="2413000"/>
            <a:ext cx="25146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4566A"/>
                </a:solidFill>
                <a:latin typeface="Arial"/>
              </a:rPr>
              <a:t>1. Dados e amostra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150 pares, censura em pKd = 5,0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Slides 3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492500" y="2413000"/>
            <a:ext cx="25146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4566A"/>
                </a:solidFill>
                <a:latin typeface="Arial"/>
              </a:rPr>
              <a:t>2. Partição e treino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Folds, parâmetros e ambiente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Slides 4 e 5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159500" y="2413000"/>
            <a:ext cx="25146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4566A"/>
                </a:solidFill>
                <a:latin typeface="Arial"/>
              </a:rPr>
              <a:t>3. Desempenho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Por fold e linhas de base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Slides 6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826500" y="2413000"/>
            <a:ext cx="25146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4566A"/>
                </a:solidFill>
                <a:latin typeface="Arial"/>
              </a:rPr>
              <a:t>4. Melhor métrica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Valor e fold de cada método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Slides 7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25500" y="3911600"/>
            <a:ext cx="25146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4566A"/>
                </a:solidFill>
                <a:latin typeface="Arial"/>
              </a:rPr>
              <a:t>5. Estatística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Testes, correções e bootstrap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Slides 8 a 10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492500" y="3911600"/>
            <a:ext cx="25146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4566A"/>
                </a:solidFill>
                <a:latin typeface="Arial"/>
              </a:rPr>
              <a:t>6. Ensemble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Por que não superou o SSM-DTA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Slides 11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159500" y="3911600"/>
            <a:ext cx="25146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4566A"/>
                </a:solidFill>
                <a:latin typeface="Arial"/>
              </a:rPr>
              <a:t>7. Censura e dificuldade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Pares em 5,0 e folds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Slides 12 e 13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826500" y="3911600"/>
            <a:ext cx="25146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4566A"/>
                </a:solidFill>
                <a:latin typeface="Arial"/>
              </a:rPr>
              <a:t>8. Limites e respostas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Conferência e perguntas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"/>
              </a:rPr>
              <a:t>Slides 14 a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APOIO: DADOS E AMOSTRA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02_histograma_rotul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98" y="2413000"/>
            <a:ext cx="5577802" cy="279400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6604000" y="2387600"/>
            <a:ext cx="4826000" cy="304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marL="139700" indent="-139700"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Arquivo do DAVIS: </a:t>
            </a:r>
            <a:r>
              <a:rPr sz="1300" b="1">
                <a:solidFill>
                  <a:srgbClr val="000000"/>
                </a:solidFill>
                <a:latin typeface="Arial"/>
              </a:rPr>
              <a:t>25.772 pares</a:t>
            </a:r>
            <a:r>
              <a:rPr sz="1300" b="0">
                <a:solidFill>
                  <a:srgbClr val="000000"/>
                </a:solidFill>
                <a:latin typeface="Arial"/>
              </a:rPr>
              <a:t> (68 fármacos e 379 proteínas).</a:t>
            </a:r>
          </a:p>
          <a:p>
            <a:pPr algn="l" marL="139700" indent="-139700"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Amostra: </a:t>
            </a:r>
            <a:r>
              <a:rPr sz="1300" b="1">
                <a:solidFill>
                  <a:srgbClr val="000000"/>
                </a:solidFill>
                <a:latin typeface="Arial"/>
              </a:rPr>
              <a:t>150 pares</a:t>
            </a:r>
            <a:r>
              <a:rPr sz="1300" b="0">
                <a:solidFill>
                  <a:srgbClr val="000000"/>
                </a:solidFill>
                <a:latin typeface="Arial"/>
              </a:rPr>
              <a:t> sorteados ao acaso (semente 42), com 62 fármacos e 119 proteínas.</a:t>
            </a:r>
          </a:p>
          <a:p>
            <a:pPr algn="l" marL="139700" indent="-139700"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pKd = 9 − log₁₀(Kd em nM): quanto maior, mais forte a ligação.</a:t>
            </a:r>
          </a:p>
          <a:p>
            <a:pPr algn="l" marL="139700" indent="-139700"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</a:t>
            </a:r>
            <a:r>
              <a:rPr sz="1300" b="1">
                <a:solidFill>
                  <a:srgbClr val="000000"/>
                </a:solidFill>
                <a:latin typeface="Arial"/>
              </a:rPr>
              <a:t>98 pares (65,3%)</a:t>
            </a:r>
            <a:r>
              <a:rPr sz="1300" b="0">
                <a:solidFill>
                  <a:srgbClr val="000000"/>
                </a:solidFill>
                <a:latin typeface="Arial"/>
              </a:rPr>
              <a:t> têm pKd = 5,0: Kd ≥ 10 µM, ou seja, sem ligação detectável (dado censurado). No arquivo completo são 71,2%.</a:t>
            </a:r>
          </a:p>
          <a:p>
            <a:pPr algn="l" marL="139700" indent="-139700"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Só </a:t>
            </a:r>
            <a:r>
              <a:rPr sz="1300" b="1">
                <a:solidFill>
                  <a:srgbClr val="000000"/>
                </a:solidFill>
                <a:latin typeface="Arial"/>
              </a:rPr>
              <a:t>52 pares</a:t>
            </a:r>
            <a:r>
              <a:rPr sz="1300" b="0">
                <a:solidFill>
                  <a:srgbClr val="000000"/>
                </a:solidFill>
                <a:latin typeface="Arial"/>
              </a:rPr>
              <a:t> têm afinidade medida (média 6,59).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5500" y="5435600"/>
            <a:ext cx="9652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Fonte: O autor (2026), com dados do DAVIS (DAVIS et al., 2011).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APOIO: PARTIÇÃO E COMPOSIÇÃO DOS FOLDS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825500" y="2413000"/>
          <a:ext cx="5587999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3448"/>
                <a:gridCol w="1059793"/>
                <a:gridCol w="1541517"/>
                <a:gridCol w="963448"/>
                <a:gridCol w="1059793"/>
              </a:tblGrid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Fold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Pares de teste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Pares com pKd = 5,0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pKd médio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pKd máximo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Fold 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21 (70,0%)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5,53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8,55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Fold 1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20 (66,7%)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5,48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8,62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Fold 2</a:t>
                      </a:r>
                    </a:p>
                  </a:txBody>
                  <a:tcPr marL="50800" marR="50800" marT="25400" marB="25400" anchor="ctr">
                    <a:solidFill>
                      <a:srgbClr val="E4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0800" marR="50800" marT="25400" marB="25400" anchor="ctr">
                    <a:solidFill>
                      <a:srgbClr val="E4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23 (76,7%)</a:t>
                      </a:r>
                    </a:p>
                  </a:txBody>
                  <a:tcPr marL="50800" marR="50800" marT="25400" marB="25400" anchor="ctr">
                    <a:solidFill>
                      <a:srgbClr val="E4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5,23</a:t>
                      </a:r>
                    </a:p>
                  </a:txBody>
                  <a:tcPr marL="50800" marR="50800" marT="25400" marB="25400" anchor="ctr">
                    <a:solidFill>
                      <a:srgbClr val="E4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rial"/>
                        </a:rPr>
                        <a:t>6,34</a:t>
                      </a:r>
                    </a:p>
                  </a:txBody>
                  <a:tcPr marL="50800" marR="50800" marT="25400" marB="25400" anchor="ctr">
                    <a:solidFill>
                      <a:srgbClr val="E4E4E4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Fold 3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16 (53,3%)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5,84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8,77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Fold 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18 (60,0%)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5,68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8,37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7" name="TextBox 106"/>
          <p:cNvSpPr txBox="1"/>
          <p:nvPr/>
        </p:nvSpPr>
        <p:spPr>
          <a:xfrm>
            <a:off x="6667500" y="2387600"/>
            <a:ext cx="4762500" cy="31115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marL="139700" indent="-139700"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Cada fold: </a:t>
            </a:r>
            <a:r>
              <a:rPr sz="1300" b="1">
                <a:solidFill>
                  <a:srgbClr val="000000"/>
                </a:solidFill>
                <a:latin typeface="Arial"/>
              </a:rPr>
              <a:t>108 pares de treino, 12 de validação e 30 de teste</a:t>
            </a:r>
            <a:r>
              <a:rPr sz="1300" b="0">
                <a:solidFill>
                  <a:srgbClr val="000000"/>
                </a:solidFill>
                <a:latin typeface="Arial"/>
              </a:rPr>
              <a:t> (semente 42).</a:t>
            </a:r>
          </a:p>
          <a:p>
            <a:pPr algn="l" marL="139700" indent="-139700"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Divisão </a:t>
            </a:r>
            <a:r>
              <a:rPr sz="1300" b="1">
                <a:solidFill>
                  <a:srgbClr val="000000"/>
                </a:solidFill>
                <a:latin typeface="Arial"/>
              </a:rPr>
              <a:t>por pares</a:t>
            </a:r>
            <a:r>
              <a:rPr sz="1300" b="0">
                <a:solidFill>
                  <a:srgbClr val="000000"/>
                </a:solidFill>
                <a:latin typeface="Arial"/>
              </a:rPr>
              <a:t>, e não por fármaco ou proteína inéditos.</a:t>
            </a:r>
          </a:p>
          <a:p>
            <a:pPr algn="l" marL="139700" indent="-139700"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Mesmo assim, só </a:t>
            </a:r>
            <a:r>
              <a:rPr sz="1300" b="1">
                <a:solidFill>
                  <a:srgbClr val="000000"/>
                </a:solidFill>
                <a:latin typeface="Arial"/>
              </a:rPr>
              <a:t>33%</a:t>
            </a:r>
            <a:r>
              <a:rPr sz="1300" b="0">
                <a:solidFill>
                  <a:srgbClr val="000000"/>
                </a:solidFill>
                <a:latin typeface="Arial"/>
              </a:rPr>
              <a:t> dos pares de teste têm proteína vista no treino, contra </a:t>
            </a:r>
            <a:r>
              <a:rPr sz="1300" b="1">
                <a:solidFill>
                  <a:srgbClr val="000000"/>
                </a:solidFill>
                <a:latin typeface="Arial"/>
              </a:rPr>
              <a:t>79%</a:t>
            </a:r>
            <a:r>
              <a:rPr sz="1300" b="0">
                <a:solidFill>
                  <a:srgbClr val="000000"/>
                </a:solidFill>
                <a:latin typeface="Arial"/>
              </a:rPr>
              <a:t> com fármaco visto.</a:t>
            </a:r>
          </a:p>
          <a:p>
            <a:pPr algn="l" marL="139700" indent="-139700">
              <a:spcAft>
                <a:spcPts val="700"/>
              </a:spcAft>
            </a:pPr>
            <a:r>
              <a:rPr sz="1300" b="0">
                <a:solidFill>
                  <a:srgbClr val="000000"/>
                </a:solidFill>
                <a:latin typeface="Arial"/>
              </a:rPr>
              <a:t>• O fold 2 é o mais fácil (76,7% em 5,0; pKd máximo 6,34), e o fold 3 é o mais difícil.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5500" y="5435600"/>
            <a:ext cx="9652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Fonte: O autor (2026), a partir do relatório.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APOIO: TREINAMENTO E AMBIENTE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825500" y="2387600"/>
          <a:ext cx="711199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166"/>
                <a:gridCol w="2815166"/>
                <a:gridCol w="2370666"/>
              </a:tblGrid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Parâmetro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SSM-DTA (variante de base)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SubMDTA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Épocas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25 (original: 1.200)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Taxa de aprendizado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5 × 10⁻⁵ (aquecimento e decaimento)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5 × 10⁻⁴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Lote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1, acumulando 16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Atualizações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150 no total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cerca de 4 por época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Pré-treinamento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nenhum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GraphEnhance (sub_50000)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Escolha do ponto de parada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menor perda de validação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menor MSE de validação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Tempo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cerca de 19 min por fold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85 a 120 s por fold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7" name="TextBox 106"/>
          <p:cNvSpPr txBox="1"/>
          <p:nvPr/>
        </p:nvSpPr>
        <p:spPr>
          <a:xfrm>
            <a:off x="8191500" y="2387600"/>
            <a:ext cx="3238500" cy="31115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marL="139700" indent="-139700">
              <a:spcAft>
                <a:spcPts val="8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</a:t>
            </a:r>
            <a:r>
              <a:rPr sz="1250" b="1">
                <a:solidFill>
                  <a:srgbClr val="000000"/>
                </a:solidFill>
                <a:latin typeface="Arial"/>
              </a:rPr>
              <a:t>Equipamento:</a:t>
            </a:r>
            <a:r>
              <a:rPr sz="1250" b="0">
                <a:solidFill>
                  <a:srgbClr val="000000"/>
                </a:solidFill>
                <a:latin typeface="Arial"/>
              </a:rPr>
              <a:t> Core i7-11800H, 7,8 GB de RAM e GPU RTX 3050 Ti de 4 GB.</a:t>
            </a:r>
          </a:p>
          <a:p>
            <a:pPr algn="l" marL="139700" indent="-139700">
              <a:spcAft>
                <a:spcPts val="8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</a:t>
            </a:r>
            <a:r>
              <a:rPr sz="1250" b="1">
                <a:solidFill>
                  <a:srgbClr val="000000"/>
                </a:solidFill>
                <a:latin typeface="Arial"/>
              </a:rPr>
              <a:t>Software:</a:t>
            </a:r>
            <a:r>
              <a:rPr sz="1250" b="0">
                <a:solidFill>
                  <a:srgbClr val="000000"/>
                </a:solidFill>
                <a:latin typeface="Arial"/>
              </a:rPr>
              <a:t> Python 3.7, PyTorch 1.10.2 e fairseq 0.10.2.</a:t>
            </a:r>
          </a:p>
          <a:p>
            <a:pPr algn="l" marL="139700" indent="-139700">
              <a:spcAft>
                <a:spcPts val="8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Arquiteturas </a:t>
            </a:r>
            <a:r>
              <a:rPr sz="1250" b="1">
                <a:solidFill>
                  <a:srgbClr val="000000"/>
                </a:solidFill>
                <a:latin typeface="Arial"/>
              </a:rPr>
              <a:t>inalteradas</a:t>
            </a:r>
            <a:r>
              <a:rPr sz="1250" b="0">
                <a:solidFill>
                  <a:srgbClr val="000000"/>
                </a:solidFill>
                <a:latin typeface="Arial"/>
              </a:rPr>
              <a:t>; hiperparâmetros </a:t>
            </a:r>
            <a:r>
              <a:rPr sz="1250" b="1">
                <a:solidFill>
                  <a:srgbClr val="000000"/>
                </a:solidFill>
                <a:latin typeface="Arial"/>
              </a:rPr>
              <a:t>padrão</a:t>
            </a:r>
            <a:r>
              <a:rPr sz="1250" b="0">
                <a:solidFill>
                  <a:srgbClr val="000000"/>
                </a:solidFill>
                <a:latin typeface="Arial"/>
              </a:rPr>
              <a:t> de cada código, sem ajuste.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5500" y="5435600"/>
            <a:ext cx="9652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Fonte: O autor (2026), a partir do relatório.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APOIO: RMSE POR FOLD E LINHAS DE BASE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05_rmse_por_f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307" y="2413000"/>
            <a:ext cx="5413385" cy="2946400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6985000" y="2387600"/>
            <a:ext cx="4445000" cy="31115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marL="139700" indent="-139700">
              <a:spcAft>
                <a:spcPts val="6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O SSM-DTA teve o menor RMSE em </a:t>
            </a:r>
            <a:r>
              <a:rPr sz="1250" b="1">
                <a:solidFill>
                  <a:srgbClr val="000000"/>
                </a:solidFill>
                <a:latin typeface="Arial"/>
              </a:rPr>
              <a:t>4 dos 5 folds</a:t>
            </a:r>
            <a:r>
              <a:rPr sz="1250" b="0">
                <a:solidFill>
                  <a:srgbClr val="000000"/>
                </a:solidFill>
                <a:latin typeface="Arial"/>
              </a:rPr>
              <a:t>; o ensemble, no fold 2.</a:t>
            </a:r>
          </a:p>
          <a:p>
            <a:pPr algn="l" marL="139700" indent="-139700">
              <a:spcAft>
                <a:spcPts val="6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Nos folds 3 e 4, </a:t>
            </a:r>
            <a:r>
              <a:rPr sz="1250" b="1">
                <a:solidFill>
                  <a:srgbClr val="000000"/>
                </a:solidFill>
                <a:latin typeface="Arial"/>
              </a:rPr>
              <a:t>nenhum método supera</a:t>
            </a:r>
            <a:r>
              <a:rPr sz="1250" b="0">
                <a:solidFill>
                  <a:srgbClr val="000000"/>
                </a:solidFill>
                <a:latin typeface="Arial"/>
              </a:rPr>
              <a:t> a previsão da média do treino.</a:t>
            </a:r>
          </a:p>
          <a:p>
            <a:pPr algn="l" marL="139700" indent="-139700">
              <a:spcAft>
                <a:spcPts val="6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Linhas de base (RMSE médio): média do treino </a:t>
            </a:r>
            <a:r>
              <a:rPr sz="1250" b="1">
                <a:solidFill>
                  <a:srgbClr val="000000"/>
                </a:solidFill>
                <a:latin typeface="Arial"/>
              </a:rPr>
              <a:t>0,955</a:t>
            </a:r>
            <a:r>
              <a:rPr sz="1250" b="0">
                <a:solidFill>
                  <a:srgbClr val="000000"/>
                </a:solidFill>
                <a:latin typeface="Arial"/>
              </a:rPr>
              <a:t>; valor constante 5,0 </a:t>
            </a:r>
            <a:r>
              <a:rPr sz="1250" b="1">
                <a:solidFill>
                  <a:srgbClr val="000000"/>
                </a:solidFill>
                <a:latin typeface="Arial"/>
              </a:rPr>
              <a:t>1,065</a:t>
            </a:r>
            <a:r>
              <a:rPr sz="1250" b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l" marL="139700" indent="-139700">
              <a:spcAft>
                <a:spcPts val="6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Frente à média do treino: SSM-DTA </a:t>
            </a:r>
            <a:r>
              <a:rPr sz="1250" b="1">
                <a:solidFill>
                  <a:srgbClr val="000000"/>
                </a:solidFill>
                <a:latin typeface="Arial"/>
              </a:rPr>
              <a:t>−8,2%</a:t>
            </a:r>
            <a:r>
              <a:rPr sz="1250" b="0">
                <a:solidFill>
                  <a:srgbClr val="000000"/>
                </a:solidFill>
                <a:latin typeface="Arial"/>
              </a:rPr>
              <a:t>, ensemble </a:t>
            </a:r>
            <a:r>
              <a:rPr sz="1250" b="1">
                <a:solidFill>
                  <a:srgbClr val="000000"/>
                </a:solidFill>
                <a:latin typeface="Arial"/>
              </a:rPr>
              <a:t>−3,0%</a:t>
            </a:r>
            <a:r>
              <a:rPr sz="1250" b="0">
                <a:solidFill>
                  <a:srgbClr val="000000"/>
                </a:solidFill>
                <a:latin typeface="Arial"/>
              </a:rPr>
              <a:t>, SubMDTA </a:t>
            </a:r>
            <a:r>
              <a:rPr sz="1250" b="1">
                <a:solidFill>
                  <a:srgbClr val="000000"/>
                </a:solidFill>
                <a:latin typeface="Arial"/>
              </a:rPr>
              <a:t>+18,0%</a:t>
            </a:r>
            <a:r>
              <a:rPr sz="1250" b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l" marL="139700" indent="-139700">
              <a:spcAft>
                <a:spcPts val="6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R² médio negativo nos três (−0,05; −0,52; −0,04).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5500" y="5435600"/>
            <a:ext cx="9652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Fonte: O autor (2026), a partir do relatório.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APOIO: MELHOR MÉTRICA DE CADA MÉTODO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825500" y="2387600"/>
          <a:ext cx="6604000" cy="248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120"/>
                <a:gridCol w="1584960"/>
                <a:gridCol w="1584960"/>
                <a:gridCol w="1584960"/>
              </a:tblGrid>
              <a:tr h="3556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Métrica (melhor)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SSM-DTA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SubMDTA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Ensemble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RMSE (menor)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0,577 (fold 2)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0,473 (fold 2)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0,415 (fold 2)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MAE (menor)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0,536 (fold 2)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0,369 (fold 2)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0,343 (fold 2)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Pearson (maior)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0,793 (fold 0)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0,527 (fold 2)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0,705 (fold 0)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Spearman (maior)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0,540 (fold 1)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0,543 (fold 2)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0,579 (fold 0)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CI (maior)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0,780 (fold 1)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0,835 (fold 2)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0,830 (fold 2)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R² (maior)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0,557 (fold 0)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0,028 (fold 0)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0,403 (fold 0)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7" name="TextBox 106"/>
          <p:cNvSpPr txBox="1"/>
          <p:nvPr/>
        </p:nvSpPr>
        <p:spPr>
          <a:xfrm>
            <a:off x="7683500" y="2387600"/>
            <a:ext cx="3746500" cy="31115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marL="139700" indent="-139700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O </a:t>
            </a:r>
            <a:r>
              <a:rPr sz="1200" b="1">
                <a:solidFill>
                  <a:srgbClr val="000000"/>
                </a:solidFill>
                <a:latin typeface="Arial"/>
              </a:rPr>
              <a:t>melhor RMSE de todos ocorreu no fold 2</a:t>
            </a:r>
            <a:r>
              <a:rPr sz="1200" b="0">
                <a:solidFill>
                  <a:srgbClr val="000000"/>
                </a:solidFill>
                <a:latin typeface="Arial"/>
              </a:rPr>
              <a:t>, o mais fácil.</a:t>
            </a:r>
          </a:p>
          <a:p>
            <a:pPr algn="l" marL="139700" indent="-139700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Nesse fold, prever sempre 5,0 já dá RMSE </a:t>
            </a:r>
            <a:r>
              <a:rPr sz="1200" b="1">
                <a:solidFill>
                  <a:srgbClr val="000000"/>
                </a:solidFill>
                <a:latin typeface="Arial"/>
              </a:rPr>
              <a:t>0,491</a:t>
            </a:r>
            <a:r>
              <a:rPr sz="1200" b="0">
                <a:solidFill>
                  <a:srgbClr val="000000"/>
                </a:solidFill>
                <a:latin typeface="Arial"/>
              </a:rPr>
              <a:t>, menor que o do SSM-DTA.</a:t>
            </a:r>
          </a:p>
          <a:p>
            <a:pPr algn="l" marL="139700" indent="-139700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Por isso, o melhor fold mostra o método em condição favorável. O desempenho esperado é a </a:t>
            </a:r>
            <a:r>
              <a:rPr sz="1200" b="1">
                <a:solidFill>
                  <a:srgbClr val="000000"/>
                </a:solidFill>
                <a:latin typeface="Arial"/>
              </a:rPr>
              <a:t>média</a:t>
            </a:r>
            <a:r>
              <a:rPr sz="1200" b="0">
                <a:solidFill>
                  <a:srgbClr val="000000"/>
                </a:solidFill>
                <a:latin typeface="Arial"/>
              </a:rPr>
              <a:t>: 0,876; 1,126; 0,926.</a:t>
            </a:r>
          </a:p>
          <a:p>
            <a:pPr algn="l" marL="139700" indent="-139700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Melhor Pearson: 0,793 (SSM-DTA) e 0,705 (ensemble), ambos no fold 0.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5500" y="5435600"/>
            <a:ext cx="9652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Fonte: O autor (2026), a partir do relatório.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APOIO: GLOSSÁRIO ESTATÍSTICO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825500" y="2374900"/>
            <a:ext cx="25146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566A"/>
                </a:solidFill>
                <a:latin typeface="Arial"/>
              </a:rPr>
              <a:t>Teste t pareado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Compara a média das diferenças de RMSE por fold com zero (4 graus de liberdade; t crítico 2,776).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492500" y="2374900"/>
            <a:ext cx="25146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566A"/>
                </a:solidFill>
                <a:latin typeface="Arial"/>
              </a:rPr>
              <a:t>Wilcoxon exato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Usa postos dos sinais, sem supor normalidade. Com 5 folds o menor p possível é 2/32 = 0,0625.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159500" y="2374900"/>
            <a:ext cx="25146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566A"/>
                </a:solidFill>
                <a:latin typeface="Arial"/>
              </a:rPr>
              <a:t>Permutação de sinais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Troca os sinais das 5 diferenças (32 combinações) e mede quão rara é a média observada.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826500" y="2374900"/>
            <a:ext cx="25146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566A"/>
                </a:solidFill>
                <a:latin typeface="Arial"/>
              </a:rPr>
              <a:t>d_z e g de Hedges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Tamanho do efeito: diferença média ÷ desvio das diferenças; g corrige amostra pequena. 0,2/0,5/0,8 = pequeno/médio/grande.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25500" y="3924300"/>
            <a:ext cx="25146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566A"/>
                </a:solidFill>
                <a:latin typeface="Arial"/>
              </a:rPr>
              <a:t>IC de 95%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Faixa plausível para a diferença verdadeira; se contém 0, não há significância a 5%.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492500" y="3924300"/>
            <a:ext cx="25146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566A"/>
                </a:solidFill>
                <a:latin typeface="Arial"/>
              </a:rPr>
              <a:t>Holm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Corrige o p por serem 3 comparações: o menor p é multiplicado por 3, o seguinte por 2, o último por 1.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159500" y="3924300"/>
            <a:ext cx="25146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566A"/>
                </a:solidFill>
                <a:latin typeface="Arial"/>
              </a:rPr>
              <a:t>Nadeau e Bengio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Corrige o t pela dependência entre folds (fator 1/5 + 30/120 = 0,45), que a média simples ignora.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826500" y="3924300"/>
            <a:ext cx="25146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566A"/>
                </a:solidFill>
                <a:latin typeface="Arial"/>
              </a:rPr>
              <a:t>Bootstrap dos pares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Reamostra os 150 pares 10.000 vezes. Supõe pares independentes, o que é otimista.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APOIO: RESULTADOS DOS TESTES PAREADOS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825500" y="2387600"/>
          <a:ext cx="10515596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8597"/>
                <a:gridCol w="1063375"/>
                <a:gridCol w="1772292"/>
                <a:gridCol w="945222"/>
                <a:gridCol w="1299680"/>
                <a:gridCol w="827069"/>
                <a:gridCol w="945222"/>
                <a:gridCol w="1654139"/>
              </a:tblGrid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Comparação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Dif. média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IC de 95%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 (t)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 (Wilcoxon)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g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 Holm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 (Nadeau e Bengio)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SSM-DTA − SubMDTA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−0,250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[−0,556; 0,056]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0,086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0,1250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−0,81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0,172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0,206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SSM-DTA − Ensemble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−0,050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[−0,213; 0,113]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0,444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0,4375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−0,30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0,444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0,602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SubMDTA − Ensemble</a:t>
                      </a:r>
                    </a:p>
                  </a:txBody>
                  <a:tcPr marL="50800" marR="50800" marT="25400" marB="25400" anchor="ctr">
                    <a:solidFill>
                      <a:srgbClr val="E4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0,200</a:t>
                      </a:r>
                    </a:p>
                  </a:txBody>
                  <a:tcPr marL="50800" marR="50800" marT="25400" marB="25400" anchor="ctr">
                    <a:solidFill>
                      <a:srgbClr val="E4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[0,047; 0,353]</a:t>
                      </a:r>
                    </a:p>
                  </a:txBody>
                  <a:tcPr marL="50800" marR="50800" marT="25400" marB="25400" anchor="ctr">
                    <a:solidFill>
                      <a:srgbClr val="E4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0,022</a:t>
                      </a:r>
                    </a:p>
                  </a:txBody>
                  <a:tcPr marL="50800" marR="50800" marT="25400" marB="25400" anchor="ctr">
                    <a:solidFill>
                      <a:srgbClr val="E4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0,0625</a:t>
                      </a:r>
                    </a:p>
                  </a:txBody>
                  <a:tcPr marL="50800" marR="50800" marT="25400" marB="25400" anchor="ctr">
                    <a:solidFill>
                      <a:srgbClr val="E4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1,30</a:t>
                      </a:r>
                    </a:p>
                  </a:txBody>
                  <a:tcPr marL="50800" marR="50800" marT="25400" marB="25400" anchor="ctr">
                    <a:solidFill>
                      <a:srgbClr val="E4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0,067</a:t>
                      </a:r>
                    </a:p>
                  </a:txBody>
                  <a:tcPr marL="50800" marR="50800" marT="25400" marB="25400" anchor="ctr">
                    <a:solidFill>
                      <a:srgbClr val="E4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00000"/>
                          </a:solidFill>
                          <a:latin typeface="Arial"/>
                        </a:rPr>
                        <a:t>0,073</a:t>
                      </a:r>
                    </a:p>
                  </a:txBody>
                  <a:tcPr marL="50800" marR="50800" marT="25400" marB="25400" anchor="ctr">
                    <a:solidFill>
                      <a:srgbClr val="E4E4E4"/>
                    </a:solidFill>
                  </a:tcPr>
                </a:tc>
              </a:tr>
            </a:tbl>
          </a:graphicData>
        </a:graphic>
      </p:graphicFrame>
      <p:sp>
        <p:nvSpPr>
          <p:cNvPr id="107" name="TextBox 106"/>
          <p:cNvSpPr txBox="1"/>
          <p:nvPr/>
        </p:nvSpPr>
        <p:spPr>
          <a:xfrm>
            <a:off x="825500" y="4140200"/>
            <a:ext cx="10515600" cy="1320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marL="139700" indent="-139700">
              <a:spcAft>
                <a:spcPts val="6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</a:t>
            </a:r>
            <a:r>
              <a:rPr sz="1250" b="1">
                <a:solidFill>
                  <a:srgbClr val="000000"/>
                </a:solidFill>
                <a:latin typeface="Arial"/>
              </a:rPr>
              <a:t>SSM-DTA e SubMDTA:</a:t>
            </a:r>
            <a:r>
              <a:rPr sz="1250" b="0">
                <a:solidFill>
                  <a:srgbClr val="000000"/>
                </a:solidFill>
                <a:latin typeface="Arial"/>
              </a:rPr>
              <a:t> efeito grande (g = −0,81), mas p = 0,086: tendência, sem significância formal.</a:t>
            </a:r>
          </a:p>
          <a:p>
            <a:pPr algn="l" marL="139700" indent="-139700">
              <a:spcAft>
                <a:spcPts val="6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</a:t>
            </a:r>
            <a:r>
              <a:rPr sz="1250" b="1">
                <a:solidFill>
                  <a:srgbClr val="000000"/>
                </a:solidFill>
                <a:latin typeface="Arial"/>
              </a:rPr>
              <a:t>SSM-DTA e ensemble:</a:t>
            </a:r>
            <a:r>
              <a:rPr sz="1250" b="0">
                <a:solidFill>
                  <a:srgbClr val="000000"/>
                </a:solidFill>
                <a:latin typeface="Arial"/>
              </a:rPr>
              <a:t> sem evidência de diferença (p = 0,444).</a:t>
            </a:r>
          </a:p>
          <a:p>
            <a:pPr algn="l" marL="139700" indent="-139700">
              <a:spcAft>
                <a:spcPts val="6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</a:t>
            </a:r>
            <a:r>
              <a:rPr sz="1250" b="1">
                <a:solidFill>
                  <a:srgbClr val="000000"/>
                </a:solidFill>
                <a:latin typeface="Arial"/>
              </a:rPr>
              <a:t>Ensemble e SubMDTA:</a:t>
            </a:r>
            <a:r>
              <a:rPr sz="1250" b="0">
                <a:solidFill>
                  <a:srgbClr val="000000"/>
                </a:solidFill>
                <a:latin typeface="Arial"/>
              </a:rPr>
              <a:t> melhor nos 5 folds (g = 1,30) e significativo no t (p = 0,022), mas </a:t>
            </a:r>
            <a:r>
              <a:rPr sz="1250" b="1">
                <a:solidFill>
                  <a:srgbClr val="000000"/>
                </a:solidFill>
                <a:latin typeface="Arial"/>
              </a:rPr>
              <a:t>p = 0,067 após Holm</a:t>
            </a:r>
            <a:r>
              <a:rPr sz="1250" b="0">
                <a:solidFill>
                  <a:srgbClr val="000000"/>
                </a:solidFill>
                <a:latin typeface="Arial"/>
              </a:rPr>
              <a:t>, 0,0625 no Wilcoxon exato e 0,073 após Nadeau e Bengio. Evidência moderada.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5500" y="5435600"/>
            <a:ext cx="9652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Fonte: O autor (2026). Diferença = RMSE do primeiro menos o do segundo; valores negativos favorecem o primeiro.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APOIO: VERIFICAÇÃO POR BOOTSTRAP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825500" y="2413000"/>
          <a:ext cx="5968999" cy="16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023"/>
                <a:gridCol w="1665767"/>
                <a:gridCol w="2082209"/>
              </a:tblGrid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Comparação (150 pares)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Diferença de RMSE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IC percentil de 95%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SSM-DTA − SubMDTA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−0,266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[−0,392; −0,136]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SSM-DTA − Ensemble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−0,062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[−0,125; 0,001]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SubMDTA − Ensemble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0,203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00000"/>
                          </a:solidFill>
                          <a:latin typeface="Arial"/>
                        </a:rPr>
                        <a:t>[0,132; 0,275]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7" name="TextBox 106"/>
          <p:cNvSpPr txBox="1"/>
          <p:nvPr/>
        </p:nvSpPr>
        <p:spPr>
          <a:xfrm>
            <a:off x="825500" y="4191000"/>
            <a:ext cx="596900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RMSE reunido (IC de 95%): SSM-DTA 0,77 a 1,08; SubMDTA 1,02 a 1,35; Ensemble 0,83 a 1,14.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112000" y="2387600"/>
            <a:ext cx="4318000" cy="31115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marL="139700" indent="-139700">
              <a:spcAft>
                <a:spcPts val="7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Os intervalos são </a:t>
            </a:r>
            <a:r>
              <a:rPr sz="1250" b="1">
                <a:solidFill>
                  <a:srgbClr val="000000"/>
                </a:solidFill>
                <a:latin typeface="Arial"/>
              </a:rPr>
              <a:t>mais estreitos</a:t>
            </a:r>
            <a:r>
              <a:rPr sz="1250" b="0">
                <a:solidFill>
                  <a:srgbClr val="000000"/>
                </a:solidFill>
                <a:latin typeface="Arial"/>
              </a:rPr>
              <a:t> do que os da análise por fold.</a:t>
            </a:r>
          </a:p>
          <a:p>
            <a:pPr algn="l" marL="139700" indent="-139700">
              <a:spcAft>
                <a:spcPts val="7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O motivo: o bootstrap trata os 150 pares como independentes, mas fármacos e proteínas se repetem.</a:t>
            </a:r>
          </a:p>
          <a:p>
            <a:pPr algn="l" marL="139700" indent="-139700">
              <a:spcAft>
                <a:spcPts val="7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A análise por fold tem só 5 unidades e </a:t>
            </a:r>
            <a:r>
              <a:rPr sz="1250" b="1">
                <a:solidFill>
                  <a:srgbClr val="000000"/>
                </a:solidFill>
                <a:latin typeface="Arial"/>
              </a:rPr>
              <a:t>pouco poder</a:t>
            </a:r>
            <a:r>
              <a:rPr sz="1250" b="0">
                <a:solidFill>
                  <a:srgbClr val="000000"/>
                </a:solidFill>
                <a:latin typeface="Arial"/>
              </a:rPr>
              <a:t>. Os dois enfoques concordam na direção e na ordem de grandeza (cerca de 0,25 entre SSM-DTA e SubMDTA).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5500" y="5435600"/>
            <a:ext cx="9652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Fonte: O autor (2026), a partir do relatório.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APOIO: O ENSEMBLE E O SSM-DTA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07_correlacao_err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" y="2387600"/>
            <a:ext cx="3175000" cy="2829207"/>
          </a:xfrm>
          <a:prstGeom prst="rect">
            <a:avLst/>
          </a:prstGeom>
        </p:spPr>
      </p:pic>
      <p:graphicFrame>
        <p:nvGraphicFramePr>
          <p:cNvPr id="107" name="Table 106"/>
          <p:cNvGraphicFramePr>
            <a:graphicFrameLocks noGrp="1"/>
          </p:cNvGraphicFramePr>
          <p:nvPr/>
        </p:nvGraphicFramePr>
        <p:xfrm>
          <a:off x="4191000" y="2387600"/>
          <a:ext cx="317499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590"/>
                <a:gridCol w="649431"/>
                <a:gridCol w="649431"/>
                <a:gridCol w="1154545"/>
              </a:tblGrid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Fold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Limiar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Supera o melhor?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Fold 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0,45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0,16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Fold 1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0,54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−0,05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Fold 2</a:t>
                      </a:r>
                    </a:p>
                  </a:txBody>
                  <a:tcPr marL="50800" marR="50800" marT="25400" marB="25400" anchor="ctr">
                    <a:solidFill>
                      <a:srgbClr val="E4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0,07</a:t>
                      </a:r>
                    </a:p>
                  </a:txBody>
                  <a:tcPr marL="50800" marR="50800" marT="25400" marB="25400" anchor="ctr">
                    <a:solidFill>
                      <a:srgbClr val="E4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0,17</a:t>
                      </a:r>
                    </a:p>
                  </a:txBody>
                  <a:tcPr marL="50800" marR="50800" marT="25400" marB="25400" anchor="ctr">
                    <a:solidFill>
                      <a:srgbClr val="E4E4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Arial"/>
                        </a:rPr>
                        <a:t>Sim</a:t>
                      </a:r>
                    </a:p>
                  </a:txBody>
                  <a:tcPr marL="50800" marR="50800" marT="25400" marB="25400" anchor="ctr">
                    <a:solidFill>
                      <a:srgbClr val="E4E4E4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Fold 3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1,45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1,34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Fold 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1,53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1,00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Arial"/>
                        </a:rPr>
                        <a:t>Não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8" name="TextBox 107"/>
          <p:cNvSpPr txBox="1"/>
          <p:nvPr/>
        </p:nvSpPr>
        <p:spPr>
          <a:xfrm>
            <a:off x="4191000" y="4318000"/>
            <a:ext cx="317500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000000"/>
                </a:solidFill>
                <a:latin typeface="Arial"/>
              </a:rPr>
              <a:t>C = média do produto dos erros; o ensemble vence se C &lt; (3·MSE₁ − MSE₂)/2.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620000" y="2387600"/>
            <a:ext cx="3810000" cy="31115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marL="139700" indent="-139700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Os erros dos dois métodos são </a:t>
            </a:r>
            <a:r>
              <a:rPr sz="1200" b="1">
                <a:solidFill>
                  <a:srgbClr val="000000"/>
                </a:solidFill>
                <a:latin typeface="Arial"/>
              </a:rPr>
              <a:t>fortemente correlacionados</a:t>
            </a:r>
            <a:r>
              <a:rPr sz="1200" b="0">
                <a:solidFill>
                  <a:srgbClr val="000000"/>
                </a:solidFill>
                <a:latin typeface="Arial"/>
              </a:rPr>
              <a:t> (r = 0,74).</a:t>
            </a:r>
          </a:p>
          <a:p>
            <a:pPr algn="l" marL="139700" indent="-139700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O SubMDTA é bem pior; com pesos iguais, a média só vence o melhor membro se a condição ao lado for cumprida: ocorreu </a:t>
            </a:r>
            <a:r>
              <a:rPr sz="1200" b="1">
                <a:solidFill>
                  <a:srgbClr val="000000"/>
                </a:solidFill>
                <a:latin typeface="Arial"/>
              </a:rPr>
              <a:t>só no fold 2</a:t>
            </a:r>
            <a:r>
              <a:rPr sz="1200" b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l" marL="139700" indent="-139700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A média </a:t>
            </a:r>
            <a:r>
              <a:rPr sz="1200" b="1">
                <a:solidFill>
                  <a:srgbClr val="000000"/>
                </a:solidFill>
                <a:latin typeface="Arial"/>
              </a:rPr>
              <a:t>sempre</a:t>
            </a:r>
            <a:r>
              <a:rPr sz="1200" b="0">
                <a:solidFill>
                  <a:srgbClr val="000000"/>
                </a:solidFill>
                <a:latin typeface="Arial"/>
              </a:rPr>
              <a:t> reduz o erro frente à média dos dois (ambiguidade de 0,10 a 0,29).</a:t>
            </a:r>
          </a:p>
          <a:p>
            <a:pPr algn="l" marL="139700" indent="-139700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Peso exploratório ótimo: w = 0,89 (RMSE 0,872), quase igual ao SSM-DTA sozinho.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25500" y="5435600"/>
            <a:ext cx="9652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Fonte: O autor (2026), a partir do relatório.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APOIO: PARES NO LIMITE DE DETECÇÃO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14_censurad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99" y="2413000"/>
            <a:ext cx="5588000" cy="2666215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6604000" y="2387600"/>
            <a:ext cx="4826000" cy="31115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marL="139700" indent="-139700">
              <a:spcAft>
                <a:spcPts val="7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RMSE é menor nos 98 pares em 5,0 (SSM-DTA 0,77) do que nos 52 medidos (1,15).</a:t>
            </a:r>
          </a:p>
          <a:p>
            <a:pPr algn="l" marL="139700" indent="-139700">
              <a:spcAft>
                <a:spcPts val="7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Os modelos </a:t>
            </a:r>
            <a:r>
              <a:rPr sz="1250" b="1">
                <a:solidFill>
                  <a:srgbClr val="000000"/>
                </a:solidFill>
                <a:latin typeface="Arial"/>
              </a:rPr>
              <a:t>superestimam</a:t>
            </a:r>
            <a:r>
              <a:rPr sz="1250" b="0">
                <a:solidFill>
                  <a:srgbClr val="000000"/>
                </a:solidFill>
                <a:latin typeface="Arial"/>
              </a:rPr>
              <a:t> os pares em 5,0 (viés 0,61) e </a:t>
            </a:r>
            <a:r>
              <a:rPr sz="1250" b="1">
                <a:solidFill>
                  <a:srgbClr val="000000"/>
                </a:solidFill>
                <a:latin typeface="Arial"/>
              </a:rPr>
              <a:t>subestimam</a:t>
            </a:r>
            <a:r>
              <a:rPr sz="1250" b="0">
                <a:solidFill>
                  <a:srgbClr val="000000"/>
                </a:solidFill>
                <a:latin typeface="Arial"/>
              </a:rPr>
              <a:t> os medidos (−0,51): regressão à média.</a:t>
            </a:r>
          </a:p>
          <a:p>
            <a:pPr algn="l" marL="139700" indent="-139700">
              <a:spcAft>
                <a:spcPts val="7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Correlação entre os pares medidos: SSM-DTA </a:t>
            </a:r>
            <a:r>
              <a:rPr sz="1250" b="1">
                <a:solidFill>
                  <a:srgbClr val="000000"/>
                </a:solidFill>
                <a:latin typeface="Arial"/>
              </a:rPr>
              <a:t>0,35</a:t>
            </a:r>
            <a:r>
              <a:rPr sz="1250" b="0">
                <a:solidFill>
                  <a:srgbClr val="000000"/>
                </a:solidFill>
                <a:latin typeface="Arial"/>
              </a:rPr>
              <a:t>, ensemble </a:t>
            </a:r>
            <a:r>
              <a:rPr sz="1250" b="1">
                <a:solidFill>
                  <a:srgbClr val="000000"/>
                </a:solidFill>
                <a:latin typeface="Arial"/>
              </a:rPr>
              <a:t>0,22</a:t>
            </a:r>
            <a:r>
              <a:rPr sz="1250" b="0">
                <a:solidFill>
                  <a:srgbClr val="000000"/>
                </a:solidFill>
                <a:latin typeface="Arial"/>
              </a:rPr>
              <a:t>, SubMDTA </a:t>
            </a:r>
            <a:r>
              <a:rPr sz="1250" b="1">
                <a:solidFill>
                  <a:srgbClr val="000000"/>
                </a:solidFill>
                <a:latin typeface="Arial"/>
              </a:rPr>
              <a:t>0,06</a:t>
            </a:r>
            <a:r>
              <a:rPr sz="1250" b="0">
                <a:solidFill>
                  <a:srgbClr val="000000"/>
                </a:solidFill>
                <a:latin typeface="Arial"/>
              </a:rPr>
              <a:t>.</a:t>
            </a:r>
          </a:p>
          <a:p>
            <a:pPr algn="l" marL="139700" indent="-139700">
              <a:spcAft>
                <a:spcPts val="700"/>
              </a:spcAft>
            </a:pPr>
            <a:r>
              <a:rPr sz="1250" b="0">
                <a:solidFill>
                  <a:srgbClr val="000000"/>
                </a:solidFill>
                <a:latin typeface="Arial"/>
              </a:rPr>
              <a:t>• Na prática, o SubMDTA não ordenou os pares ativos nesta amostra.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5500" y="5435600"/>
            <a:ext cx="9652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Fonte: O autor (2026), a partir do relatório.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APOIO: DIFICULDADE DOS FOLDS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16_rmse_vs_cens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" y="2387600"/>
            <a:ext cx="4191000" cy="2778815"/>
          </a:xfrm>
          <a:prstGeom prst="rect">
            <a:avLst/>
          </a:prstGeom>
        </p:spPr>
      </p:pic>
      <p:graphicFrame>
        <p:nvGraphicFramePr>
          <p:cNvPr id="107" name="Table 106"/>
          <p:cNvGraphicFramePr>
            <a:graphicFrameLocks noGrp="1"/>
          </p:cNvGraphicFramePr>
          <p:nvPr/>
        </p:nvGraphicFramePr>
        <p:xfrm>
          <a:off x="5207000" y="2413000"/>
          <a:ext cx="6222998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804"/>
                <a:gridCol w="2276707"/>
                <a:gridCol w="2428487"/>
              </a:tblGrid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Método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Proteína vista (n = 50)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Proteína inédita (n = 100)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SSM-DTA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0,720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1,007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SubMDTA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1,043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1,254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Ensemble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0,776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Arial"/>
                        </a:rPr>
                        <a:t>1,073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8" name="TextBox 107"/>
          <p:cNvSpPr txBox="1"/>
          <p:nvPr/>
        </p:nvSpPr>
        <p:spPr>
          <a:xfrm>
            <a:off x="5207000" y="3873500"/>
            <a:ext cx="6223000" cy="15875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marL="139700" indent="-139700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Quanto mais pares em 5,0 no teste, menor o RMSE: correlação de postos </a:t>
            </a:r>
            <a:r>
              <a:rPr sz="1200" b="1">
                <a:solidFill>
                  <a:srgbClr val="000000"/>
                </a:solidFill>
                <a:latin typeface="Arial"/>
              </a:rPr>
              <a:t>−1,00</a:t>
            </a:r>
            <a:r>
              <a:rPr sz="1200" b="0">
                <a:solidFill>
                  <a:srgbClr val="000000"/>
                </a:solidFill>
                <a:latin typeface="Arial"/>
              </a:rPr>
              <a:t> (SSM-DTA) e </a:t>
            </a:r>
            <a:r>
              <a:rPr sz="1200" b="1">
                <a:solidFill>
                  <a:srgbClr val="000000"/>
                </a:solidFill>
                <a:latin typeface="Arial"/>
              </a:rPr>
              <a:t>−0,90</a:t>
            </a:r>
            <a:r>
              <a:rPr sz="1200" b="0">
                <a:solidFill>
                  <a:srgbClr val="000000"/>
                </a:solidFill>
                <a:latin typeface="Arial"/>
              </a:rPr>
              <a:t> (SubMDTA e ensemble), com 5 folds.</a:t>
            </a:r>
          </a:p>
          <a:p>
            <a:pPr algn="l" marL="139700" indent="-139700">
              <a:spcAft>
                <a:spcPts val="6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O erro é menor quando a proteína aparece no treino. Análise descritiva, sem teste.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5500" y="5435600"/>
            <a:ext cx="9652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Fonte: O autor (2026), a partir do relatório.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APOIO: LIMITAÇÕES DO ESTUDO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825500" y="2374900"/>
            <a:ext cx="25146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566A"/>
                </a:solidFill>
                <a:latin typeface="Arial"/>
              </a:rPr>
              <a:t>Amostra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150 pares (0,6% do banco); muitas proteínas aparecem uma única vez.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492500" y="2374900"/>
            <a:ext cx="25146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566A"/>
                </a:solidFill>
                <a:latin typeface="Arial"/>
              </a:rPr>
              <a:t>Folds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Apenas 5: pouco poder; Wilcoxon com p mínimo de 0,0625.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159500" y="2374900"/>
            <a:ext cx="25146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566A"/>
                </a:solidFill>
                <a:latin typeface="Arial"/>
              </a:rPr>
              <a:t>Dependência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Folds compartilham treino e pares compartilham fármacos e alvos.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826500" y="2374900"/>
            <a:ext cx="25146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566A"/>
                </a:solidFill>
                <a:latin typeface="Arial"/>
              </a:rPr>
              <a:t>Treino curto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25 épocas, hiperparâmetros sem ajuste e SSM-DTA sem pré-treinamento.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25500" y="3924300"/>
            <a:ext cx="25146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566A"/>
                </a:solidFill>
                <a:latin typeface="Arial"/>
              </a:rPr>
              <a:t>Validação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O ponto de parada é escolhido com só 12 pares.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492500" y="3924300"/>
            <a:ext cx="25146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566A"/>
                </a:solidFill>
                <a:latin typeface="Arial"/>
              </a:rPr>
              <a:t>Censura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Mais de 65% dos pares em 5,0, tratados como valores exatos.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159500" y="3924300"/>
            <a:ext cx="25146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566A"/>
                </a:solidFill>
                <a:latin typeface="Arial"/>
              </a:rPr>
              <a:t>Determinismo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Treino em GPU sem semente determinística: predições podem variar um pouco.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826500" y="3924300"/>
            <a:ext cx="2514600" cy="1422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566A"/>
                </a:solidFill>
                <a:latin typeface="Arial"/>
              </a:rPr>
              <a:t>Ponderação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Arial"/>
              </a:rPr>
              <a:t>A curva de pesos do ensemble foi feita no teste: é ilustrativa.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APOIO: CONFERÊNCIA COM O RESUMO SUBMETIDO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graphicFrame>
        <p:nvGraphicFramePr>
          <p:cNvPr id="106" name="Table 105"/>
          <p:cNvGraphicFramePr>
            <a:graphicFrameLocks noGrp="1"/>
          </p:cNvGraphicFramePr>
          <p:nvPr/>
        </p:nvGraphicFramePr>
        <p:xfrm>
          <a:off x="825500" y="2387600"/>
          <a:ext cx="571499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9418"/>
                <a:gridCol w="1727790"/>
                <a:gridCol w="1727790"/>
              </a:tblGrid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Valor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Resumo submetido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Relatório</a:t>
                      </a:r>
                    </a:p>
                  </a:txBody>
                  <a:tcPr marL="50800" marR="50800" marT="25400" marB="25400" anchor="ctr">
                    <a:solidFill>
                      <a:srgbClr val="14566A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RMSE SSM-DTA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0,876 ± 0,285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0,876 ± 0,284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RMSE SubMDTA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1,126 ± 0,377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1,126 ± 0,377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RMSE ensemble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0,926 ± 0,332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0,926 ± 0,332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Sub × Ens: p (t); d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0,022; 1,62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0,022; 1,62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Melhor RMSE do ensemble (fold 2)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0,415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rial"/>
                        </a:rPr>
                        <a:t>0,415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7" name="TextBox 106"/>
          <p:cNvSpPr txBox="1"/>
          <p:nvPr/>
        </p:nvSpPr>
        <p:spPr>
          <a:xfrm>
            <a:off x="6794500" y="2387600"/>
            <a:ext cx="4635500" cy="31115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 marL="139700" indent="-139700">
              <a:spcAft>
                <a:spcPts val="7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Os valores coincidem; a diferença de 0,285 e 0,284 é de </a:t>
            </a:r>
            <a:r>
              <a:rPr sz="1200" b="1">
                <a:solidFill>
                  <a:srgbClr val="000000"/>
                </a:solidFill>
                <a:latin typeface="Arial"/>
              </a:rPr>
              <a:t>arredondamento</a:t>
            </a:r>
            <a:r>
              <a:rPr sz="1200" b="0">
                <a:solidFill>
                  <a:srgbClr val="000000"/>
                </a:solidFill>
                <a:latin typeface="Arial"/>
              </a:rPr>
              <a:t> (o resumo usou RMSE já arredondados).</a:t>
            </a:r>
          </a:p>
          <a:p>
            <a:pPr algn="l" marL="139700" indent="-139700">
              <a:spcAft>
                <a:spcPts val="7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O relatório acrescenta as ressalvas sobre o ensemble (Holm, Wilcoxon exato, Nadeau e Bengio).</a:t>
            </a:r>
          </a:p>
          <a:p>
            <a:pPr algn="l" marL="139700" indent="-139700">
              <a:spcAft>
                <a:spcPts val="7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• </a:t>
            </a:r>
            <a:r>
              <a:rPr sz="1200" b="1">
                <a:solidFill>
                  <a:srgbClr val="000000"/>
                </a:solidFill>
                <a:latin typeface="Arial"/>
              </a:rPr>
              <a:t>Não se pode afirmar:</a:t>
            </a:r>
            <a:r>
              <a:rPr sz="1200" b="0">
                <a:solidFill>
                  <a:srgbClr val="000000"/>
                </a:solidFill>
                <a:latin typeface="Arial"/>
              </a:rPr>
              <a:t> que o SSM-DTA seja superior em geral, que o SubMDTA seja pior como arquitetura, nem o desempenho com dados completos ou divisões por alvo inédito.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5500" y="5435600"/>
            <a:ext cx="9652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000000"/>
                </a:solidFill>
                <a:latin typeface="Arial"/>
              </a:rPr>
              <a:t>Fonte: O autor (2026), a partir do relatório.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APOIO: RESPOSTAS RÁPIDAS (1 DE 2)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825500" y="2374900"/>
            <a:ext cx="3429000" cy="144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566A"/>
                </a:solidFill>
                <a:latin typeface="Arial"/>
              </a:rPr>
              <a:t>Por que só 150 pares?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Para rodar 3 preditores em 5 folds em um notebook com GPU de 4 GB. A amostra é aleatória (semente 42) e mantém a maioria de pares em 5,0.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394200" y="2374900"/>
            <a:ext cx="3429000" cy="144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A1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5A1A8F"/>
                </a:solidFill>
                <a:latin typeface="Arial"/>
              </a:rPr>
              <a:t>Por que 25 épocas?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Mesmo orçamento para os dois métodos. Os originais usam muito mais (SubMDTA: 1.200 épocas), e por isso os resultados valem para treino curto.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962900" y="2374900"/>
            <a:ext cx="3429000" cy="144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566A"/>
                </a:solidFill>
                <a:latin typeface="Arial"/>
              </a:rPr>
              <a:t>Houve ajuste de hiperparâmetros?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Não. Foram usados os valores padrão de cada código, com as arquiteturas inalteradas.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5500" y="3949700"/>
            <a:ext cx="3429000" cy="144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A1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5A1A8F"/>
                </a:solidFill>
                <a:latin typeface="Arial"/>
              </a:rPr>
              <a:t>Por que a variante de base do SSM-DTA?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Ela não usa o pré-treinamento por linguagem mascarada nem dados sem rótulo, que não foram empregados neste estudo.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394200" y="3949700"/>
            <a:ext cx="3429000" cy="144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566A"/>
                </a:solidFill>
                <a:latin typeface="Arial"/>
              </a:rPr>
              <a:t>A divisão é por alvo inédito?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Não, é por pares. Ainda assim, 67% dos pares de teste têm proteína inédita e 79% têm fármaco já visto.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962900" y="3949700"/>
            <a:ext cx="3429000" cy="144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A1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5A1A8F"/>
                </a:solidFill>
                <a:latin typeface="Arial"/>
              </a:rPr>
              <a:t>O melhor fold é o desempenho do método?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Não. O fold 2 é o mais fácil. O desempenho esperado é a média dos 5 folds.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APOIO: RESPOSTAS RÁPIDAS (2 DE 2)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825500" y="2374900"/>
            <a:ext cx="3429000" cy="144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566A"/>
                </a:solidFill>
                <a:latin typeface="Arial"/>
              </a:rPr>
              <a:t>O ensemble é melhor que o SubMDTA?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Nos 5 folds sim (g = 1,30) e p = 0,022 no t, mas p = 0,067 após Holm e mínimo de 0,0625 no Wilcoxon.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394200" y="2374900"/>
            <a:ext cx="3429000" cy="144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A1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5A1A8F"/>
                </a:solidFill>
                <a:latin typeface="Arial"/>
              </a:rPr>
              <a:t>Por que o ensemble não bateu o SSM-DTA?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Erros muito correlacionados (r = 0,74) e SubMDTA bem pior: a condição da média só foi cumprida no fold 2.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962900" y="2374900"/>
            <a:ext cx="3429000" cy="144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566A"/>
                </a:solidFill>
                <a:latin typeface="Arial"/>
              </a:rPr>
              <a:t>Por que RMSE como métrica principal?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Está em unidades de pKd e pesa mais os erros grandes. É complementada por MAE, Pearson, Spearman, CI e R².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5500" y="3949700"/>
            <a:ext cx="3429000" cy="144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A1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5A1A8F"/>
                </a:solidFill>
                <a:latin typeface="Arial"/>
              </a:rPr>
              <a:t>O que significa pKd = 5,0?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Kd ≥ 10 µM: o ensaio não detectou ligação. É dado censurado, tratado como valor exato na prática do DAVIS.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394200" y="3949700"/>
            <a:ext cx="3429000" cy="144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566A"/>
                </a:solidFill>
                <a:latin typeface="Arial"/>
              </a:rPr>
              <a:t>O SubMDTA é pior como arquitetura?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Não se pode concluir. Aqui ele teve 108 pares e 25 épocas, bem abaixo do treino para o qual foi concebido.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962900" y="3949700"/>
            <a:ext cx="3429000" cy="144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5A1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63500" bIns="50800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5A1A8F"/>
                </a:solidFill>
                <a:latin typeface="Arial"/>
              </a:rPr>
              <a:t>O estudo é reprodutível?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Sim. Scripts, partições, predições e métricas estão no repositório público; as métricas se recalculam sem treinar.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APOIO: REFERÊNCIAS PRINCIPAIS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825500" y="2362200"/>
            <a:ext cx="10515600" cy="3175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PEI, Q. et al. Breaking the barriers of data scarcity in drug-target affinity prediction. Briefings in Bioinformatics, v. 24, n. 6, 2023.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PAN, S. et al. SubMDTA: drug target affinity prediction based on substructure extraction and multi-scale features. BMC Bioinformatics, v. 24, 2023.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DAVIS, M. I. et al. Comprehensive analysis of kinase inhibitor selectivity. Nature Biotechnology, v. 29, n. 11, p. 1046-1051, 2011.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TANG, J. et al. Making sense of large-scale kinase inhibitor bioactivity data sets. J. Chem. Inf. Model., v. 54, n. 3, p. 735-743, 2014.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PAHIKKALA, T. et al. Toward more realistic drug-target interaction predictions. Briefings in Bioinformatics, v. 16, n. 2, p. 325-337, 2015.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KROGH, A.; VEDELSBY, J. Neural network ensembles, cross validation, and active learning. NIPS, v. 7, p. 231-238, 1995.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NADEAU, C.; BENGIO, Y. Inference for the generalization error. Machine Learning, v. 52, n. 3, p. 239-281, 2003.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HOLM, S. A simple sequentially rejective multiple test procedure. Scand. J. Statistics, v. 6, n. 2, p. 65-70, 1979.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WILCOXON, F. Individual comparisons by ranking methods. Biometrics Bulletin, v. 1, n. 6, p. 80-83, 1945.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000000"/>
                </a:solidFill>
                <a:latin typeface="Arial"/>
              </a:rPr>
              <a:t>CHACON ROMERO, M. Código IA. GitHub, 2026. Disponível em: https://github.com/margarita316/Codigo-IA-.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FIGURAS, QUADROS E TABELAS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825500" y="2286000"/>
            <a:ext cx="10515600" cy="381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Reprodução do relatório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810000" y="2743200"/>
            <a:ext cx="4572000" cy="31750"/>
          </a:xfrm>
          <a:prstGeom prst="rect">
            <a:avLst/>
          </a:prstGeom>
          <a:solidFill>
            <a:srgbClr val="5A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25500" y="28448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Cada figura, quadro e tabela aparece tal como no relatório: mesma numeração, mesmo título e mesma fonte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5500" y="3403600"/>
            <a:ext cx="3390900" cy="121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14566A"/>
                </a:solidFill>
                <a:latin typeface="Arial"/>
              </a:rPr>
              <a:t>19</a:t>
            </a:r>
          </a:p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Figuras (slides 20 a 38)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394200" y="3403600"/>
            <a:ext cx="3390900" cy="121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5A1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5A1A8F"/>
                </a:solidFill>
                <a:latin typeface="Arial"/>
              </a:rPr>
              <a:t>6</a:t>
            </a:r>
          </a:p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Quadros (slides 39 a 44)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962900" y="3403600"/>
            <a:ext cx="3378200" cy="121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45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14566A"/>
                </a:solidFill>
                <a:latin typeface="Arial"/>
              </a:rPr>
              <a:t>13</a:t>
            </a:r>
          </a:p>
          <a:p>
            <a:pPr algn="ctr"/>
            <a:r>
              <a:rPr sz="1300">
                <a:solidFill>
                  <a:srgbClr val="000000"/>
                </a:solidFill>
                <a:latin typeface="Arial"/>
              </a:rPr>
              <a:t>Tabelas (slides 45 a 61)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25500" y="48768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000000"/>
                </a:solidFill>
                <a:latin typeface="Arial"/>
              </a:rPr>
              <a:t>A melhor métrica de cada método, com o fold em que ocorreu, está na Tabela 4 (slide 48).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FIGURA 1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401" y="2311400"/>
            <a:ext cx="6665796" cy="322579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FIGURA 2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7539" y="2311400"/>
            <a:ext cx="4791521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FIGURA 3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6230" y="2311400"/>
            <a:ext cx="6014138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FIGURA 4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9620" y="2311400"/>
            <a:ext cx="6107359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FIGURA 5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272" y="2311400"/>
            <a:ext cx="9420054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FIGURA 6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1315" y="2311400"/>
            <a:ext cx="5943968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FIGURA 7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9187" y="2311400"/>
            <a:ext cx="6748225" cy="322579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FIGURA 8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3394" y="2311400"/>
            <a:ext cx="5839810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FIGURA 9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806" y="2311400"/>
            <a:ext cx="6374987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FIGURA 10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662" y="2311400"/>
            <a:ext cx="5385275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FIGURA 11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950" y="2311400"/>
            <a:ext cx="6374698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FIGURA 12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145" y="2311400"/>
            <a:ext cx="6364308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FIGURA 13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2360" y="2311400"/>
            <a:ext cx="5941879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FIGURA 14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5006" y="2311400"/>
            <a:ext cx="7656586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FIGURA 15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850" y="2311400"/>
            <a:ext cx="4298898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FIGURA 16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279" y="2311400"/>
            <a:ext cx="6122041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FIGURA 17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2129" y="2311400"/>
            <a:ext cx="5882341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FIGURA 18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2279" y="2311400"/>
            <a:ext cx="6122041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FIGURA 19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f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0076" y="2311400"/>
            <a:ext cx="4946447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QUADRO 1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q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8148" y="2311400"/>
            <a:ext cx="6390302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QUADRO 2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q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5898" y="2311400"/>
            <a:ext cx="6234802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QUADRO 3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q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7955" y="2311400"/>
            <a:ext cx="4670689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QUADRO 4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q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203" y="2311400"/>
            <a:ext cx="5134193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QUADRO 5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q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800" y="2311400"/>
            <a:ext cx="10094998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QUADRO 6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q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9747" y="2311400"/>
            <a:ext cx="6907104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TABELA 1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t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410" y="2311400"/>
            <a:ext cx="9335778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TABELA 2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t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6274" y="2311400"/>
            <a:ext cx="9434050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TABELA 3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t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9505" y="2311400"/>
            <a:ext cx="8147588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TABELA 4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t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410" y="2311400"/>
            <a:ext cx="9335778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TABELA 5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t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410" y="2311400"/>
            <a:ext cx="9335778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TABELA 6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t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042" y="2311400"/>
            <a:ext cx="9602515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TABELA 7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t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" y="2311400"/>
            <a:ext cx="10515600" cy="300896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TABELA 8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t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935" y="2311400"/>
            <a:ext cx="9830728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TABELA 9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t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" y="2311400"/>
            <a:ext cx="10515600" cy="248539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TABELA 10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t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" y="2311400"/>
            <a:ext cx="10515600" cy="248539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TABELA 11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t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9620" y="2311400"/>
            <a:ext cx="7427359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TABELA 12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pic>
        <p:nvPicPr>
          <p:cNvPr id="106" name="Picture 105" descr="t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6671" y="2311400"/>
            <a:ext cx="4853256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TABELA 13 (FOLD 0)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825500" y="2324100"/>
            <a:ext cx="105156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Tabela 13</a:t>
            </a:r>
            <a:r>
              <a:rPr sz="1200" b="0">
                <a:solidFill>
                  <a:srgbClr val="000000"/>
                </a:solidFill>
                <a:latin typeface="Arial"/>
              </a:rPr>
              <a:t> – Valores observados e preditos (pKd) nos 150 pares de teste: fold 0</a:t>
            </a:r>
          </a:p>
        </p:txBody>
      </p:sp>
      <p:pic>
        <p:nvPicPr>
          <p:cNvPr id="107" name="Picture 106" descr="t13_f0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" y="2590800"/>
            <a:ext cx="5207000" cy="2539466"/>
          </a:xfrm>
          <a:prstGeom prst="rect">
            <a:avLst/>
          </a:prstGeom>
        </p:spPr>
      </p:pic>
      <p:pic>
        <p:nvPicPr>
          <p:cNvPr id="108" name="Picture 107" descr="t13_f0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100" y="2590800"/>
            <a:ext cx="5207000" cy="2545713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825500" y="5257800"/>
            <a:ext cx="105156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Fonte: O autor (2026).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TABELA 13 (FOLD 1)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825500" y="2324100"/>
            <a:ext cx="105156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Tabela 13</a:t>
            </a:r>
            <a:r>
              <a:rPr sz="1200" b="0">
                <a:solidFill>
                  <a:srgbClr val="000000"/>
                </a:solidFill>
                <a:latin typeface="Arial"/>
              </a:rPr>
              <a:t> – Valores observados e preditos (pKd) nos 150 pares de teste: fold 1</a:t>
            </a:r>
          </a:p>
        </p:txBody>
      </p:sp>
      <p:pic>
        <p:nvPicPr>
          <p:cNvPr id="107" name="Picture 106" descr="t13_f1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" y="2590800"/>
            <a:ext cx="5207000" cy="2542590"/>
          </a:xfrm>
          <a:prstGeom prst="rect">
            <a:avLst/>
          </a:prstGeom>
        </p:spPr>
      </p:pic>
      <p:pic>
        <p:nvPicPr>
          <p:cNvPr id="108" name="Picture 107" descr="t13_f1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100" y="2590800"/>
            <a:ext cx="5207000" cy="2551961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825500" y="5257800"/>
            <a:ext cx="105156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Fonte: O autor (2026).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TABELA 13 (FOLD 2)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825500" y="2324100"/>
            <a:ext cx="105156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Tabela 13</a:t>
            </a:r>
            <a:r>
              <a:rPr sz="1200" b="0">
                <a:solidFill>
                  <a:srgbClr val="000000"/>
                </a:solidFill>
                <a:latin typeface="Arial"/>
              </a:rPr>
              <a:t> – Valores observados e preditos (pKd) nos 150 pares de teste: fold 2</a:t>
            </a:r>
          </a:p>
        </p:txBody>
      </p:sp>
      <p:pic>
        <p:nvPicPr>
          <p:cNvPr id="107" name="Picture 106" descr="t13_f2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" y="2590800"/>
            <a:ext cx="5207000" cy="2542590"/>
          </a:xfrm>
          <a:prstGeom prst="rect">
            <a:avLst/>
          </a:prstGeom>
        </p:spPr>
      </p:pic>
      <p:pic>
        <p:nvPicPr>
          <p:cNvPr id="108" name="Picture 107" descr="t13_f2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100" y="2590800"/>
            <a:ext cx="5207000" cy="2539466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825500" y="5257800"/>
            <a:ext cx="105156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Fonte: O autor (2026).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TABELA 13 (FOLD 3)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825500" y="2324100"/>
            <a:ext cx="105156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Tabela 13</a:t>
            </a:r>
            <a:r>
              <a:rPr sz="1200" b="0">
                <a:solidFill>
                  <a:srgbClr val="000000"/>
                </a:solidFill>
                <a:latin typeface="Arial"/>
              </a:rPr>
              <a:t> – Valores observados e preditos (pKd) nos 150 pares de teste: fold 3</a:t>
            </a:r>
          </a:p>
        </p:txBody>
      </p:sp>
      <p:pic>
        <p:nvPicPr>
          <p:cNvPr id="107" name="Picture 106" descr="t13_f3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" y="2590800"/>
            <a:ext cx="5207000" cy="2539466"/>
          </a:xfrm>
          <a:prstGeom prst="rect">
            <a:avLst/>
          </a:prstGeom>
        </p:spPr>
      </p:pic>
      <p:pic>
        <p:nvPicPr>
          <p:cNvPr id="108" name="Picture 107" descr="t13_f3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100" y="2590800"/>
            <a:ext cx="5207000" cy="254259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825500" y="5257800"/>
            <a:ext cx="105156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Fonte: O autor (2026).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0" name="Google Shape;100;p3" title="Captura de tela de 2026-10-07 09-51-15.png">
            <a:extLst>
              <a:ext uri="{FF2B5EF4-FFF2-40B4-BE49-F238E27FC236}">
                <a16:creationId xmlns:a16="http://schemas.microsoft.com/office/drawing/2014/main" id="{27C4AD41-5D31-E426-A279-C0D765CAD60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13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 title="Captura de tela de 2026-10-07 09-48-57.png">
            <a:extLst>
              <a:ext uri="{FF2B5EF4-FFF2-40B4-BE49-F238E27FC236}">
                <a16:creationId xmlns:a16="http://schemas.microsoft.com/office/drawing/2014/main" id="{A86C9433-8185-D7C2-2997-DB6D355635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650" y="5937175"/>
            <a:ext cx="12191999" cy="92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9745CE9-21B1-8AC3-07D0-308DBF54C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371600"/>
            <a:ext cx="10515600" cy="640080"/>
          </a:xfrm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ES" sz="3200" b="1">
                <a:solidFill>
                  <a:srgbClr val="000000"/>
                </a:solidFill>
                <a:latin typeface="Arial" panose="020B0604020202020204" pitchFamily="34" charset="0"/>
              </a:rPr>
              <a:t>RELATÓRIO: TABELA 13 (FOLD 4)</a:t>
            </a:r>
            <a:endParaRPr lang="es-ES" sz="32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5" name="Número da página"/>
          <p:cNvSpPr txBox="1"/>
          <p:nvPr/>
        </p:nvSpPr>
        <p:spPr>
          <a:xfrm>
            <a:off x="11578700" y="5607278"/>
            <a:ext cx="19877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fld id="{B6F15528-21DE-4FAA-801E-634DDDAF4B2B}" type="slidenum">
              <a:rPr lang="pt-BR" sz="1400" b="1">
                <a:latin typeface="Arial" panose="020B0604020202020204" pitchFamily="34" charset="0"/>
              </a:rPr>
              <a:t>12</a:t>
            </a:fld>
            <a:endParaRPr lang="pt-BR" sz="1400" b="1">
              <a:latin typeface="Arial" panose="020B0604020202020204" pitchFamily="34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825500" y="2324100"/>
            <a:ext cx="105156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Tabela 13</a:t>
            </a:r>
            <a:r>
              <a:rPr sz="1200" b="0">
                <a:solidFill>
                  <a:srgbClr val="000000"/>
                </a:solidFill>
                <a:latin typeface="Arial"/>
              </a:rPr>
              <a:t> – Valores observados e preditos (pKd) nos 150 pares de teste: fold 4</a:t>
            </a:r>
          </a:p>
        </p:txBody>
      </p:sp>
      <p:pic>
        <p:nvPicPr>
          <p:cNvPr id="107" name="Picture 106" descr="t13_f4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00" y="2590800"/>
            <a:ext cx="5207000" cy="2551961"/>
          </a:xfrm>
          <a:prstGeom prst="rect">
            <a:avLst/>
          </a:prstGeom>
        </p:spPr>
      </p:pic>
      <p:pic>
        <p:nvPicPr>
          <p:cNvPr id="108" name="Picture 107" descr="t13_f4_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100" y="2590800"/>
            <a:ext cx="5207000" cy="2542590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825500" y="5257800"/>
            <a:ext cx="105156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000000"/>
                </a:solidFill>
                <a:latin typeface="Arial"/>
              </a:rPr>
              <a:t>Fonte: O autor (2026).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1719</TotalTime>
  <Words>1199</Words>
  <Application>Microsoft Office PowerPoint</Application>
  <PresentationFormat>Panorámica</PresentationFormat>
  <Paragraphs>219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Tema do Office</vt:lpstr>
      <vt:lpstr>Presentación de PowerPoint</vt:lpstr>
      <vt:lpstr>SUMÁRIO</vt:lpstr>
      <vt:lpstr>INTRODUÇÃO</vt:lpstr>
      <vt:lpstr>OBJETIVO</vt:lpstr>
      <vt:lpstr>JUSTIFICATIVA</vt:lpstr>
      <vt:lpstr>MÉTODO</vt:lpstr>
      <vt:lpstr>MÉTODO: PROTOCOLO PADRONIZADO</vt:lpstr>
      <vt:lpstr>MÉTODO: PREDITORES E COMBINAÇÃO</vt:lpstr>
      <vt:lpstr>MÉTODO: ANÁLISE ESTATÍSTICA</vt:lpstr>
      <vt:lpstr>RESULTADOS</vt:lpstr>
      <vt:lpstr>RESULTADOS: DESEMPENHO DOS MÉTODOS</vt:lpstr>
      <vt:lpstr>RESULTADOS: ANÁLISE ESTATÍSTICA</vt:lpstr>
      <vt:lpstr>CONSIDERAÇÕES FINAIS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margarita chacon romero</cp:lastModifiedBy>
  <cp:revision>4</cp:revision>
  <dcterms:created xsi:type="dcterms:W3CDTF">2024-09-25T13:39:49Z</dcterms:created>
  <dcterms:modified xsi:type="dcterms:W3CDTF">2026-10-22T06:31:15Z</dcterms:modified>
</cp:coreProperties>
</file>